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4384000" cy="13716000"/>
  <p:notesSz cx="6858000" cy="9144000"/>
  <p:embeddedFontLst>
    <p:embeddedFont>
      <p:font typeface="Pretendard Bold"/>
      <p:bold r:id="rId13"/>
    </p:embeddedFont>
    <p:embeddedFont>
      <p:font typeface="Pretendard ExtraBold"/>
      <p:bold r:id="rId14"/>
    </p:embeddedFont>
    <p:embeddedFont>
      <p:font typeface="Pretendard SemiBold"/>
      <p:bold r:id="rId15"/>
    </p:embeddedFont>
    <p:embeddedFont>
      <p:font typeface="Pretendard Medium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16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2" Target="../media/image6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6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8.png" Type="http://schemas.openxmlformats.org/officeDocument/2006/relationships/image"/><Relationship Id="rId3" Target="../media/image2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3.png" Type="http://schemas.openxmlformats.org/officeDocument/2006/relationships/image"/><Relationship Id="rId9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9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357600" y="-12700"/>
            <a:ext cx="80772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27500" y="-12700"/>
            <a:ext cx="508000" cy="1374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05700" y="1244600"/>
            <a:ext cx="482600" cy="39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6108700"/>
            <a:ext cx="1181100" cy="977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89000" y="9321800"/>
            <a:ext cx="1181100" cy="977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58900" y="7073900"/>
            <a:ext cx="9652000" cy="2324100"/>
          </a:xfrm>
          <a:prstGeom prst="rect">
            <a:avLst/>
          </a:prstGeom>
        </p:spPr>
        <p:txBody>
          <a:bodyPr anchor="t" rtlCol="false" lIns="0" tIns="163927" rIns="0" bIns="0"/>
          <a:lstStyle/>
          <a:p>
            <a:pPr algn="l" lvl="0">
              <a:lnSpc>
                <a:spcPct val="99600"/>
              </a:lnSpc>
            </a:pPr>
            <a:r>
              <a:rPr lang="en-US" sz="12907" b="false" i="false" u="none" strike="noStrike">
                <a:solidFill>
                  <a:srgbClr val="605C59"/>
                </a:solidFill>
                <a:latin typeface="Pretendard Bold"/>
                <a:ea typeface="Pretendard Bold"/>
                <a:cs typeface="Pretendard Bold"/>
              </a:rPr>
              <a:t>2065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8900" y="11722100"/>
            <a:ext cx="3365500" cy="6985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2030. 11. 03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51800" y="1206500"/>
            <a:ext cx="2476500" cy="457200"/>
          </a:xfrm>
          <a:prstGeom prst="rect">
            <a:avLst/>
          </a:prstGeom>
        </p:spPr>
        <p:txBody>
          <a:bodyPr anchor="t" rtlCol="false" lIns="0" tIns="30659" rIns="0" bIns="0"/>
          <a:lstStyle/>
          <a:p>
            <a:pPr algn="l" lvl="0">
              <a:lnSpc>
                <a:spcPct val="99600"/>
              </a:lnSpc>
            </a:pPr>
            <a:r>
              <a:rPr lang="en-US" sz="2414" b="false" i="false" u="none" strike="noStrike">
                <a:solidFill>
                  <a:srgbClr val="9E9E9E"/>
                </a:solidFill>
                <a:latin typeface="S-Core Dream 6 Bold"/>
                <a:ea typeface="S-Core Dream 6 Bold"/>
                <a:cs typeface="S-Core Dream 6 Bold"/>
              </a:rPr>
              <a:t>MIRICOMPANY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600" y="8940800"/>
            <a:ext cx="13436600" cy="1968500"/>
          </a:xfrm>
          <a:prstGeom prst="rect">
            <a:avLst/>
          </a:prstGeom>
        </p:spPr>
        <p:txBody>
          <a:bodyPr anchor="t" rtlCol="false" lIns="0" tIns="138248" rIns="0" bIns="0"/>
          <a:lstStyle/>
          <a:p>
            <a:pPr algn="l" lvl="0">
              <a:lnSpc>
                <a:spcPct val="99600"/>
              </a:lnSpc>
            </a:pPr>
            <a:r>
              <a:rPr lang="en-US" sz="10885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식품 산업 트렌드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48200" y="10960100"/>
            <a:ext cx="56642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5329"/>
              </a:lnSpc>
            </a:pPr>
            <a:r>
              <a:rPr lang="en-US" sz="2413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대리. 강미리</a:t>
            </a:r>
          </a:p>
          <a:p>
            <a:pPr algn="r" lvl="0">
              <a:lnSpc>
                <a:spcPct val="125329"/>
              </a:lnSpc>
            </a:pPr>
            <a:r>
              <a:rPr lang="en-US" sz="2413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Tel. 010.1234.5678</a:t>
            </a:r>
          </a:p>
          <a:p>
            <a:pPr algn="r" lvl="0">
              <a:lnSpc>
                <a:spcPct val="125329"/>
              </a:lnSpc>
            </a:pPr>
            <a:r>
              <a:rPr lang="en-US" sz="2413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Email. kang.mr@miri.com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4E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5232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26200" y="1358900"/>
            <a:ext cx="16802100" cy="11036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48500" y="6845300"/>
            <a:ext cx="155448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34200" y="7874000"/>
            <a:ext cx="495300" cy="189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17800" y="7874000"/>
            <a:ext cx="495300" cy="189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34200" y="2451100"/>
            <a:ext cx="495300" cy="189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2451100"/>
            <a:ext cx="495300" cy="1892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886700" y="3289300"/>
            <a:ext cx="5854700" cy="9779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식품 시장 현황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86700" y="2362200"/>
            <a:ext cx="1295400" cy="901700"/>
          </a:xfrm>
          <a:prstGeom prst="rect">
            <a:avLst/>
          </a:prstGeom>
        </p:spPr>
        <p:txBody>
          <a:bodyPr anchor="t" rtlCol="false" lIns="0" tIns="61963" rIns="0" bIns="0"/>
          <a:lstStyle/>
          <a:p>
            <a:pPr algn="l" lvl="0">
              <a:lnSpc>
                <a:spcPct val="99600"/>
              </a:lnSpc>
            </a:pPr>
            <a:r>
              <a:rPr lang="en-US" sz="4879" b="false" i="false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2900" y="4597400"/>
            <a:ext cx="5791200" cy="1219200"/>
          </a:xfrm>
          <a:prstGeom prst="rect">
            <a:avLst/>
          </a:prstGeom>
        </p:spPr>
        <p:txBody>
          <a:bodyPr anchor="t" rtlCol="false" lIns="0" tIns="45658" rIns="0" bIns="0"/>
          <a:lstStyle/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해당 목차와 관련된</a:t>
            </a:r>
          </a:p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자세한 내용을 입력해주세요.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06800" y="3289300"/>
            <a:ext cx="5854700" cy="9779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주요 트렌드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9500" y="2362200"/>
            <a:ext cx="1066800" cy="901700"/>
          </a:xfrm>
          <a:prstGeom prst="rect">
            <a:avLst/>
          </a:prstGeom>
        </p:spPr>
        <p:txBody>
          <a:bodyPr anchor="t" rtlCol="false" lIns="0" tIns="61963" rIns="0" bIns="0"/>
          <a:lstStyle/>
          <a:p>
            <a:pPr algn="l" lvl="0">
              <a:lnSpc>
                <a:spcPct val="99600"/>
              </a:lnSpc>
            </a:pPr>
            <a:r>
              <a:rPr lang="en-US" sz="4879" b="false" i="false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83000" y="4597400"/>
            <a:ext cx="5791200" cy="1219200"/>
          </a:xfrm>
          <a:prstGeom prst="rect">
            <a:avLst/>
          </a:prstGeom>
        </p:spPr>
        <p:txBody>
          <a:bodyPr anchor="t" rtlCol="false" lIns="0" tIns="45658" rIns="0" bIns="0"/>
          <a:lstStyle/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해당 목차와 관련된</a:t>
            </a:r>
          </a:p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자세한 내용을 입력해주세요.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728200"/>
            <a:ext cx="4025900" cy="1371600"/>
          </a:xfrm>
          <a:prstGeom prst="rect">
            <a:avLst/>
          </a:prstGeom>
        </p:spPr>
        <p:txBody>
          <a:bodyPr anchor="t" rtlCol="false" lIns="0" tIns="96021" rIns="0" bIns="0"/>
          <a:lstStyle/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11150600"/>
            <a:ext cx="3365500" cy="12700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-</a:t>
            </a:r>
          </a:p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Index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06800" y="8724900"/>
            <a:ext cx="5854700" cy="9779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미래 전망과 전략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19500" y="7810500"/>
            <a:ext cx="1447800" cy="901700"/>
          </a:xfrm>
          <a:prstGeom prst="rect">
            <a:avLst/>
          </a:prstGeom>
        </p:spPr>
        <p:txBody>
          <a:bodyPr anchor="t" rtlCol="false" lIns="0" tIns="61963" rIns="0" bIns="0"/>
          <a:lstStyle/>
          <a:p>
            <a:pPr algn="l" lvl="0">
              <a:lnSpc>
                <a:spcPct val="99600"/>
              </a:lnSpc>
            </a:pPr>
            <a:r>
              <a:rPr lang="en-US" sz="4879" b="false" i="false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3000" y="10045700"/>
            <a:ext cx="5791200" cy="1219200"/>
          </a:xfrm>
          <a:prstGeom prst="rect">
            <a:avLst/>
          </a:prstGeom>
        </p:spPr>
        <p:txBody>
          <a:bodyPr anchor="t" rtlCol="false" lIns="0" tIns="45658" rIns="0" bIns="0"/>
          <a:lstStyle/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해당 목차와 관련된</a:t>
            </a:r>
          </a:p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자세한 내용을 입력해주세요.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6700" y="8724900"/>
            <a:ext cx="5854700" cy="9779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성공 사례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6700" y="7810500"/>
            <a:ext cx="1955800" cy="901700"/>
          </a:xfrm>
          <a:prstGeom prst="rect">
            <a:avLst/>
          </a:prstGeom>
        </p:spPr>
        <p:txBody>
          <a:bodyPr anchor="t" rtlCol="false" lIns="0" tIns="61963" rIns="0" bIns="0"/>
          <a:lstStyle/>
          <a:p>
            <a:pPr algn="l" lvl="0">
              <a:lnSpc>
                <a:spcPct val="99600"/>
              </a:lnSpc>
            </a:pPr>
            <a:r>
              <a:rPr lang="en-US" sz="4879" b="false" i="false" u="none" strike="noStrike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62900" y="10045700"/>
            <a:ext cx="5791200" cy="1219200"/>
          </a:xfrm>
          <a:prstGeom prst="rect">
            <a:avLst/>
          </a:prstGeom>
        </p:spPr>
        <p:txBody>
          <a:bodyPr anchor="t" rtlCol="false" lIns="0" tIns="45658" rIns="0" bIns="0"/>
          <a:lstStyle/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해당 목차와 관련된</a:t>
            </a:r>
          </a:p>
          <a:p>
            <a:pPr algn="l" lvl="0">
              <a:lnSpc>
                <a:spcPct val="99600"/>
              </a:lnSpc>
            </a:pPr>
            <a:r>
              <a:rPr lang="en-US" sz="3595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자세한 내용을 입력해주세요.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4E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5232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26200" y="1257300"/>
            <a:ext cx="16802100" cy="6819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26200" y="10299700"/>
            <a:ext cx="5524500" cy="2108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42100" y="1587500"/>
            <a:ext cx="16370300" cy="619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65000" y="10299700"/>
            <a:ext cx="5524500" cy="210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26200" y="8077200"/>
            <a:ext cx="5524500" cy="110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0" y="8077200"/>
            <a:ext cx="5524500" cy="110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03800" y="8077200"/>
            <a:ext cx="5524500" cy="1104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703800" y="10299700"/>
            <a:ext cx="5524500" cy="210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890000" y="9436100"/>
            <a:ext cx="584200" cy="584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4528800" y="9436100"/>
            <a:ext cx="584200" cy="58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0167600" y="9436100"/>
            <a:ext cx="584200" cy="584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04900" y="9994900"/>
            <a:ext cx="3784600" cy="24003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-</a:t>
            </a:r>
          </a:p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Current Status of the Food Market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226300"/>
            <a:ext cx="4013200" cy="2527300"/>
          </a:xfrm>
          <a:prstGeom prst="rect">
            <a:avLst/>
          </a:prstGeom>
        </p:spPr>
        <p:txBody>
          <a:bodyPr anchor="t" rtlCol="false" lIns="0" tIns="96021" rIns="0" bIns="0"/>
          <a:lstStyle/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식품시장 현황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02400" y="10629900"/>
            <a:ext cx="5372100" cy="1447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슬로우푸드 및 비건 음식 등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건강 및 웰빙 트렌드 식품의 소비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가 증가하고 있어요.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03100" y="10629900"/>
            <a:ext cx="5461000" cy="1447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지속가능성에 대한 관심이 높아지며 </a:t>
            </a:r>
            <a:r>
              <a:rPr lang="en-US" sz="29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친환경 포장과 탄소발자국 감소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가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중요해지고 있어요.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12000" y="8305800"/>
            <a:ext cx="41402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건강 및 웰빙 트렌드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0800" y="8305800"/>
            <a:ext cx="41402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친환경 제품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389600" y="8305800"/>
            <a:ext cx="41402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푸드테크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80000" y="10629900"/>
            <a:ext cx="5372100" cy="1447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푸드테크의 발전으로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스마트 농업과 대체육 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등이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기술 융합이 증가하고 있어요.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4E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5232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414000" y="7937500"/>
            <a:ext cx="88519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26200" y="1257300"/>
            <a:ext cx="16802100" cy="173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250400" y="1257300"/>
            <a:ext cx="495300" cy="173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499600" y="2095500"/>
            <a:ext cx="12319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3822700"/>
            <a:ext cx="2349500" cy="232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32600" y="4013200"/>
            <a:ext cx="1943100" cy="194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6819900"/>
            <a:ext cx="2349500" cy="232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9804400"/>
            <a:ext cx="2349500" cy="2324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43200" y="3822700"/>
            <a:ext cx="2349500" cy="232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43200" y="6819900"/>
            <a:ext cx="2349500" cy="232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43200" y="9804400"/>
            <a:ext cx="2349500" cy="232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76600" y="10363200"/>
            <a:ext cx="1346200" cy="1219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226300" y="7162800"/>
            <a:ext cx="1092200" cy="1511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97700" y="10147300"/>
            <a:ext cx="1625600" cy="1625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13100" y="4419600"/>
            <a:ext cx="1397000" cy="1130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951200" y="7289800"/>
            <a:ext cx="1333500" cy="13716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059400" y="9779000"/>
            <a:ext cx="52959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개인 맞춤형 식품 푸드테크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84800" y="10401300"/>
            <a:ext cx="5219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AI와 빅데이터를 활용한 개인 맞춤형 식사 솔루션이 확산되며 자동화 조리 시스템과 무인 주문 결제 기술이 외식업계에서 점점 더 많이 적용되고 있어요.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4900" y="9994900"/>
            <a:ext cx="3784600" cy="24003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-</a:t>
            </a:r>
          </a:p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Key Trends Analysis in the Food Market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070600"/>
            <a:ext cx="4013200" cy="3683000"/>
          </a:xfrm>
          <a:prstGeom prst="rect">
            <a:avLst/>
          </a:prstGeom>
        </p:spPr>
        <p:txBody>
          <a:bodyPr anchor="t" rtlCol="false" lIns="0" tIns="96021" rIns="0" bIns="0"/>
          <a:lstStyle/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</a:p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트렌드</a:t>
            </a:r>
          </a:p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69600" y="1536700"/>
            <a:ext cx="11125200" cy="1181100"/>
          </a:xfrm>
          <a:prstGeom prst="rect">
            <a:avLst/>
          </a:prstGeom>
        </p:spPr>
        <p:txBody>
          <a:bodyPr anchor="t" rtlCol="false" lIns="0" tIns="44027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먹거리를 건강하게 즐기는 </a:t>
            </a:r>
            <a:r>
              <a:rPr lang="en-US" sz="3466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‘헬시 플레저ʼ </a:t>
            </a:r>
            <a:r>
              <a:rPr lang="en-US" sz="3466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열풍이</a:t>
            </a:r>
          </a:p>
          <a:p>
            <a:pPr algn="l" lvl="0">
              <a:lnSpc>
                <a:spcPct val="99600"/>
              </a:lnSpc>
            </a:pPr>
            <a:r>
              <a:rPr lang="en-US" sz="3466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올해도 계속될 전망이다.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7200" y="1409700"/>
            <a:ext cx="3238500" cy="1397000"/>
          </a:xfrm>
          <a:prstGeom prst="rect">
            <a:avLst/>
          </a:prstGeom>
        </p:spPr>
        <p:txBody>
          <a:bodyPr anchor="t" rtlCol="false" lIns="0" tIns="52493" rIns="0" bIns="0"/>
          <a:lstStyle/>
          <a:p>
            <a:pPr algn="l" lvl="0">
              <a:lnSpc>
                <a:spcPct val="99600"/>
              </a:lnSpc>
            </a:pPr>
            <a:r>
              <a:rPr lang="en-US" sz="4133" b="false" i="false" u="none" strike="noStrike" cap="all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Healthy</a:t>
            </a:r>
          </a:p>
          <a:p>
            <a:pPr algn="l" lvl="0">
              <a:lnSpc>
                <a:spcPct val="99600"/>
              </a:lnSpc>
            </a:pPr>
            <a:r>
              <a:rPr lang="en-US" sz="4133" b="false" i="false" u="none" strike="noStrike" cap="all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Pleasure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5600" y="3848100"/>
            <a:ext cx="52959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식물 기반 식단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3700" y="4457700"/>
            <a:ext cx="5219700" cy="16510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환경과 건강을 생각한 식물성 식단이 주목</a:t>
            </a:r>
          </a:p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받고 있으며 비건 및 플렉시테리언을 위한 대체 단백질과 식물성 식품이 트렌드로 </a:t>
            </a:r>
          </a:p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자리 잡고 있어요.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45600" y="6781800"/>
            <a:ext cx="5295900" cy="10922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건강한 노화 및 지속 가능한</a:t>
            </a:r>
          </a:p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건강 친환경 중시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71000" y="7899400"/>
            <a:ext cx="5422900" cy="12446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‘건강한 노화ʼ 트렌드에 맞춘 건강식품 </a:t>
            </a:r>
          </a:p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시장이 확대되며, 지속 가능한 소비와 </a:t>
            </a:r>
          </a:p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친환경 제품에 대한 관심도 높아지고 있어요.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45600" y="9779000"/>
            <a:ext cx="52959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고급화·세분화된 간편식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83700" y="10401300"/>
            <a:ext cx="5219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유명 레스토랑 음식을 집에서 즐길 수 있는 제품이 다양해지고 있으며 소비자 니즈에 맞춰 단백질, 저칼로리, 자연식 선호가</a:t>
            </a:r>
          </a:p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반영된 제품이 늘어나고 있어요.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059400" y="3810000"/>
            <a:ext cx="52959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재미와 감성을 강조한 식품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84800" y="4432300"/>
            <a:ext cx="5219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재미와 감성을 강조한 식품 MZ세대와 할매니얼 세대를 겨냥한 독특한 신제품과 이색 협업이 증가하는 등 소비자에게 즐거움을 주는 마케팅이 활발히 진행되고 있어요.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059400" y="7035800"/>
            <a:ext cx="43561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저탄수·고단백 대체 식품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084800" y="7658100"/>
            <a:ext cx="52197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탄수화물과 칼로리 걱정으로 전통 식품 </a:t>
            </a:r>
          </a:p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소비가 줄어들며 저칼로리·고단백 </a:t>
            </a:r>
          </a:p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대체 식품이 주목받고 있어요.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4E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52324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13500" y="1270000"/>
            <a:ext cx="6781800" cy="3403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13500" y="5143500"/>
            <a:ext cx="6781800" cy="340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13500" y="9004300"/>
            <a:ext cx="6781800" cy="3403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1270000"/>
            <a:ext cx="927100" cy="90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5143500"/>
            <a:ext cx="927100" cy="90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8991600"/>
            <a:ext cx="927100" cy="901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2585700" y="2730500"/>
            <a:ext cx="850900" cy="48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2585700" y="6616700"/>
            <a:ext cx="8509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2585700" y="10464800"/>
            <a:ext cx="8509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1270000"/>
            <a:ext cx="10058400" cy="3403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93800" y="1638300"/>
            <a:ext cx="8572500" cy="939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513800" y="1638300"/>
            <a:ext cx="495300" cy="939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5156200"/>
            <a:ext cx="10058400" cy="340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93800" y="5524500"/>
            <a:ext cx="8572500" cy="939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513800" y="5524500"/>
            <a:ext cx="495300" cy="93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9017000"/>
            <a:ext cx="10058400" cy="340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93800" y="9194800"/>
            <a:ext cx="8572500" cy="939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513800" y="9194800"/>
            <a:ext cx="495300" cy="939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4236700" y="5638800"/>
            <a:ext cx="7239000" cy="673100"/>
          </a:xfrm>
          <a:prstGeom prst="rect">
            <a:avLst/>
          </a:prstGeom>
        </p:spPr>
        <p:txBody>
          <a:bodyPr anchor="t" rtlCol="false" lIns="0" tIns="4572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미국 식품시장의 새로운 트렌드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93800" y="6591300"/>
            <a:ext cx="8674100" cy="14478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매운맛에 대한 소비자 수요가 미국 식품시장에서</a:t>
            </a:r>
          </a:p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확산함에 따라 매운맛을 활용한 음료와 디저트 등</a:t>
            </a:r>
          </a:p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새로운 제품이 출시될 것으로 예상하고 있어요.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36700" y="9309100"/>
            <a:ext cx="7239000" cy="673100"/>
          </a:xfrm>
          <a:prstGeom prst="rect">
            <a:avLst/>
          </a:prstGeom>
        </p:spPr>
        <p:txBody>
          <a:bodyPr anchor="t" rtlCol="false" lIns="0" tIns="4572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환경을 위한 선택! 대체육으로 전환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93800" y="10261600"/>
            <a:ext cx="8674100" cy="19177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미국 식품시장에서 동물성 재료를 최소화한 혼합 대체육 제품의 인기가 지속되는 가운데, 2035년에는 식물성 재료만을 사용한 대체육 식품과 오트밀크, 아몬드 우유 등의 식물 기반 제품이 주목받을 것으로 예상하고 있어요.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77000" y="1473200"/>
            <a:ext cx="800100" cy="508000"/>
          </a:xfrm>
          <a:prstGeom prst="rect">
            <a:avLst/>
          </a:prstGeom>
        </p:spPr>
        <p:txBody>
          <a:bodyPr anchor="t" rtlCol="false" lIns="0" tIns="34427" rIns="0" bIns="0"/>
          <a:lstStyle/>
          <a:p>
            <a:pPr algn="ctr" lvl="0">
              <a:lnSpc>
                <a:spcPct val="99600"/>
              </a:lnSpc>
            </a:pPr>
            <a:r>
              <a:rPr lang="en-US" sz="271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77000" y="5346700"/>
            <a:ext cx="800100" cy="508000"/>
          </a:xfrm>
          <a:prstGeom prst="rect">
            <a:avLst/>
          </a:prstGeom>
        </p:spPr>
        <p:txBody>
          <a:bodyPr anchor="t" rtlCol="false" lIns="0" tIns="34427" rIns="0" bIns="0"/>
          <a:lstStyle/>
          <a:p>
            <a:pPr algn="ctr" lvl="0">
              <a:lnSpc>
                <a:spcPct val="99600"/>
              </a:lnSpc>
            </a:pPr>
            <a:r>
              <a:rPr lang="en-US" sz="271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77000" y="9194800"/>
            <a:ext cx="800100" cy="508000"/>
          </a:xfrm>
          <a:prstGeom prst="rect">
            <a:avLst/>
          </a:prstGeom>
        </p:spPr>
        <p:txBody>
          <a:bodyPr anchor="t" rtlCol="false" lIns="0" tIns="34427" rIns="0" bIns="0"/>
          <a:lstStyle/>
          <a:p>
            <a:pPr algn="ctr" lvl="0">
              <a:lnSpc>
                <a:spcPct val="99600"/>
              </a:lnSpc>
            </a:pPr>
            <a:r>
              <a:rPr lang="en-US" sz="2710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36700" y="1765300"/>
            <a:ext cx="6121400" cy="673100"/>
          </a:xfrm>
          <a:prstGeom prst="rect">
            <a:avLst/>
          </a:prstGeom>
        </p:spPr>
        <p:txBody>
          <a:bodyPr anchor="t" rtlCol="false" lIns="0" tIns="4572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건강한 삶 그리고 나를 위한 선택!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93800" y="2705100"/>
            <a:ext cx="8674100" cy="990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대체당이나 대체유로 변경하여 주문할 수 있는</a:t>
            </a:r>
          </a:p>
          <a:p>
            <a:pPr algn="l" lvl="0">
              <a:lnSpc>
                <a:spcPct val="107899"/>
              </a:lnSpc>
            </a:pPr>
            <a:r>
              <a:rPr lang="en-US" sz="2800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'제로 음료'는 열풍을 넘어 모든 음료의 주류로 자리 잡았어요.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4900" y="11137900"/>
            <a:ext cx="3365500" cy="1270000"/>
          </a:xfrm>
          <a:prstGeom prst="rect">
            <a:avLst/>
          </a:prstGeom>
        </p:spPr>
        <p:txBody>
          <a:bodyPr anchor="t" rtlCol="false" lIns="0" tIns="47413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-</a:t>
            </a:r>
          </a:p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Success Story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9702800"/>
            <a:ext cx="4025900" cy="1371600"/>
          </a:xfrm>
          <a:prstGeom prst="rect">
            <a:avLst/>
          </a:prstGeom>
        </p:spPr>
        <p:txBody>
          <a:bodyPr anchor="t" rtlCol="false" lIns="0" tIns="96021" rIns="0" bIns="0"/>
          <a:lstStyle/>
          <a:p>
            <a:pPr algn="l" lvl="0">
              <a:lnSpc>
                <a:spcPct val="99600"/>
              </a:lnSpc>
            </a:pPr>
            <a:r>
              <a:rPr lang="en-US" sz="7560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성공 사례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9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11938000" y="-38100"/>
            <a:ext cx="508000" cy="2540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08900" y="4635500"/>
            <a:ext cx="2870200" cy="281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4635500"/>
            <a:ext cx="2870200" cy="281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04900" y="4635500"/>
            <a:ext cx="2870200" cy="2819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46900" y="7620000"/>
            <a:ext cx="10502900" cy="977900"/>
          </a:xfrm>
          <a:prstGeom prst="rect">
            <a:avLst/>
          </a:prstGeom>
        </p:spPr>
        <p:txBody>
          <a:bodyPr anchor="t" rtlCol="false" lIns="0" tIns="67351" rIns="0" bIns="0"/>
          <a:lstStyle/>
          <a:p>
            <a:pPr algn="ctr" lvl="0">
              <a:lnSpc>
                <a:spcPct val="99600"/>
              </a:lnSpc>
            </a:pPr>
            <a:r>
              <a:rPr lang="en-US" sz="5303" b="false" i="false" u="none" strike="noStrike">
                <a:solidFill>
                  <a:srgbClr val="1F5E8B"/>
                </a:solidFill>
                <a:latin typeface="Pretendard ExtraBold"/>
                <a:ea typeface="Pretendard ExtraBold"/>
                <a:cs typeface="Pretendard ExtraBold"/>
              </a:rPr>
              <a:t>궁금한 점이 있다면 질문해주세요!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50200" y="4495800"/>
            <a:ext cx="2374900" cy="3111500"/>
          </a:xfrm>
          <a:prstGeom prst="rect">
            <a:avLst/>
          </a:prstGeom>
        </p:spPr>
        <p:txBody>
          <a:bodyPr anchor="t" rtlCol="false" lIns="0" tIns="220252" rIns="0" bIns="0"/>
          <a:lstStyle/>
          <a:p>
            <a:pPr algn="ctr" lvl="0">
              <a:lnSpc>
                <a:spcPct val="99600"/>
              </a:lnSpc>
            </a:pPr>
            <a:r>
              <a:rPr lang="en-US" sz="17342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Q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15700" y="4965700"/>
            <a:ext cx="1765300" cy="2514600"/>
          </a:xfrm>
          <a:prstGeom prst="rect">
            <a:avLst/>
          </a:prstGeom>
        </p:spPr>
        <p:txBody>
          <a:bodyPr anchor="t" rtlCol="false" lIns="0" tIns="176980" rIns="0" bIns="0"/>
          <a:lstStyle/>
          <a:p>
            <a:pPr algn="ctr" lvl="0">
              <a:lnSpc>
                <a:spcPct val="99600"/>
              </a:lnSpc>
            </a:pPr>
            <a:r>
              <a:rPr lang="en-US" sz="13935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&amp;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46200" y="4495800"/>
            <a:ext cx="2400300" cy="3111500"/>
          </a:xfrm>
          <a:prstGeom prst="rect">
            <a:avLst/>
          </a:prstGeom>
        </p:spPr>
        <p:txBody>
          <a:bodyPr anchor="t" rtlCol="false" lIns="0" tIns="220252" rIns="0" bIns="0"/>
          <a:lstStyle/>
          <a:p>
            <a:pPr algn="ctr" lvl="0">
              <a:lnSpc>
                <a:spcPct val="99600"/>
              </a:lnSpc>
            </a:pPr>
            <a:r>
              <a:rPr lang="en-US" sz="17342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9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73482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344900" y="-12700"/>
            <a:ext cx="508000" cy="1374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42400" y="7404100"/>
            <a:ext cx="1397000" cy="138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42400" y="9067800"/>
            <a:ext cx="1397000" cy="138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42400" y="10744200"/>
            <a:ext cx="1397000" cy="1384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110700" y="7785100"/>
            <a:ext cx="660400" cy="62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96400" y="9321800"/>
            <a:ext cx="876300" cy="876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034500" y="11061700"/>
            <a:ext cx="800100" cy="69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05700" y="1244600"/>
            <a:ext cx="482600" cy="393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0000" y="8191500"/>
            <a:ext cx="1181100" cy="97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83600" y="10744200"/>
            <a:ext cx="1181100" cy="977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0751800" y="1282700"/>
            <a:ext cx="2476500" cy="457200"/>
          </a:xfrm>
          <a:prstGeom prst="rect">
            <a:avLst/>
          </a:prstGeom>
        </p:spPr>
        <p:txBody>
          <a:bodyPr anchor="t" rtlCol="false" lIns="0" tIns="30659" rIns="0" bIns="0"/>
          <a:lstStyle/>
          <a:p>
            <a:pPr algn="l" lvl="0">
              <a:lnSpc>
                <a:spcPct val="99600"/>
              </a:lnSpc>
            </a:pPr>
            <a:r>
              <a:rPr lang="en-US" sz="2414" b="false" i="false" u="none" strike="noStrike">
                <a:solidFill>
                  <a:srgbClr val="9E9E9E"/>
                </a:solidFill>
                <a:latin typeface="S-Core Dream 6 Bold"/>
                <a:ea typeface="S-Core Dream 6 Bold"/>
                <a:cs typeface="S-Core Dream 6 Bold"/>
              </a:rPr>
              <a:t>MIRICOMPANY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2700" y="9588500"/>
            <a:ext cx="8001000" cy="914400"/>
          </a:xfrm>
          <a:prstGeom prst="rect">
            <a:avLst/>
          </a:prstGeom>
        </p:spPr>
        <p:txBody>
          <a:bodyPr anchor="t" rtlCol="false" lIns="0" tIns="62653" rIns="0" bIns="0"/>
          <a:lstStyle/>
          <a:p>
            <a:pPr algn="l" lvl="0">
              <a:lnSpc>
                <a:spcPct val="99600"/>
              </a:lnSpc>
            </a:pPr>
            <a:r>
              <a:rPr lang="en-US" sz="4933" b="false" i="false" u="none" strike="noStrike">
                <a:solidFill>
                  <a:srgbClr val="605C59"/>
                </a:solidFill>
                <a:latin typeface="Pretendard Bold"/>
                <a:ea typeface="Pretendard Bold"/>
                <a:cs typeface="Pretendard Bold"/>
              </a:rPr>
              <a:t>마케팅팀 김미리 대리였습니다.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600" y="10426700"/>
            <a:ext cx="7569200" cy="1968500"/>
          </a:xfrm>
          <a:prstGeom prst="rect">
            <a:avLst/>
          </a:prstGeom>
        </p:spPr>
        <p:txBody>
          <a:bodyPr anchor="t" rtlCol="false" lIns="0" tIns="138248" rIns="0" bIns="0"/>
          <a:lstStyle/>
          <a:p>
            <a:pPr algn="l" lvl="0">
              <a:lnSpc>
                <a:spcPct val="99600"/>
              </a:lnSpc>
            </a:pPr>
            <a:r>
              <a:rPr lang="en-US" sz="10885" b="false" i="false" u="none" strike="noStrike">
                <a:solidFill>
                  <a:srgbClr val="605C59"/>
                </a:solidFill>
                <a:latin typeface="Pretendard ExtraBold"/>
                <a:ea typeface="Pretendard ExtraBold"/>
                <a:cs typeface="Pretendard ExtraBold"/>
              </a:rPr>
              <a:t>감사합니다!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19700" y="7518400"/>
            <a:ext cx="3467100" cy="762000"/>
          </a:xfrm>
          <a:prstGeom prst="rect">
            <a:avLst/>
          </a:prstGeom>
        </p:spPr>
        <p:txBody>
          <a:bodyPr anchor="t" rtlCol="false" lIns="0" tIns="52018" rIns="0" bIns="0"/>
          <a:lstStyle/>
          <a:p>
            <a:pPr algn="r" lvl="0">
              <a:lnSpc>
                <a:spcPct val="99600"/>
              </a:lnSpc>
            </a:pPr>
            <a:r>
              <a:rPr lang="en-US" sz="4095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Tel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995900" y="8178800"/>
            <a:ext cx="33909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3071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010.1234.5678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919700" y="9182100"/>
            <a:ext cx="3467100" cy="762000"/>
          </a:xfrm>
          <a:prstGeom prst="rect">
            <a:avLst/>
          </a:prstGeom>
        </p:spPr>
        <p:txBody>
          <a:bodyPr anchor="t" rtlCol="false" lIns="0" tIns="52018" rIns="0" bIns="0"/>
          <a:lstStyle/>
          <a:p>
            <a:pPr algn="r" lvl="0">
              <a:lnSpc>
                <a:spcPct val="99600"/>
              </a:lnSpc>
            </a:pPr>
            <a:r>
              <a:rPr lang="en-US" sz="4095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Email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05400" y="9842500"/>
            <a:ext cx="3581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3071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kang.mr@miri.com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218400" y="10858500"/>
            <a:ext cx="1168400" cy="762000"/>
          </a:xfrm>
          <a:prstGeom prst="rect">
            <a:avLst/>
          </a:prstGeom>
        </p:spPr>
        <p:txBody>
          <a:bodyPr anchor="t" rtlCol="false" lIns="0" tIns="52018" rIns="0" bIns="0"/>
          <a:lstStyle/>
          <a:p>
            <a:pPr algn="r" lvl="0">
              <a:lnSpc>
                <a:spcPct val="99600"/>
              </a:lnSpc>
            </a:pPr>
            <a:r>
              <a:rPr lang="en-US" sz="4095" b="false" i="false" u="none" strike="noStrike">
                <a:solidFill>
                  <a:srgbClr val="1F5E8B"/>
                </a:solidFill>
                <a:latin typeface="Pretendard Bold"/>
                <a:ea typeface="Pretendard Bold"/>
                <a:cs typeface="Pretendard Bold"/>
              </a:rPr>
              <a:t>Fax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995900" y="11518900"/>
            <a:ext cx="33909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3071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02.1234.5678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